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6858000" cx="12192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Roboto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  <p:embeddedFont>
      <p:font typeface="Corbel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44" Type="http://schemas.openxmlformats.org/officeDocument/2006/relationships/font" Target="fonts/Lato-bold.fntdata"/><Relationship Id="rId43" Type="http://schemas.openxmlformats.org/officeDocument/2006/relationships/font" Target="fonts/Lato-regular.fntdata"/><Relationship Id="rId46" Type="http://schemas.openxmlformats.org/officeDocument/2006/relationships/font" Target="fonts/Lato-boldItalic.fntdata"/><Relationship Id="rId45" Type="http://schemas.openxmlformats.org/officeDocument/2006/relationships/font" Target="fonts/La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Corbel-bold.fntdata"/><Relationship Id="rId47" Type="http://schemas.openxmlformats.org/officeDocument/2006/relationships/font" Target="fonts/Corbel-regular.fntdata"/><Relationship Id="rId49" Type="http://schemas.openxmlformats.org/officeDocument/2006/relationships/font" Target="fonts/Corbel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Raleway-regular.fntdata"/><Relationship Id="rId34" Type="http://schemas.openxmlformats.org/officeDocument/2006/relationships/slide" Target="slides/slide28.xml"/><Relationship Id="rId37" Type="http://schemas.openxmlformats.org/officeDocument/2006/relationships/font" Target="fonts/Raleway-italic.fntdata"/><Relationship Id="rId36" Type="http://schemas.openxmlformats.org/officeDocument/2006/relationships/font" Target="fonts/Raleway-bold.fntdata"/><Relationship Id="rId39" Type="http://schemas.openxmlformats.org/officeDocument/2006/relationships/font" Target="fonts/Roboto-regular.fntdata"/><Relationship Id="rId38" Type="http://schemas.openxmlformats.org/officeDocument/2006/relationships/font" Target="fonts/Raleway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Corbel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030b0264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030b0264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030b0264_1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a030b0264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a030b0264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a030b0264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a030b0264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a030b0264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a030b0264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a030b0264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a030b0264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a030b0264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a030b0264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a030b0264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a030b0264_1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a030b0264_1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a030b0264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fa030b0264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88d04ed4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88d04ed45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f88d04ed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88d04ed45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88d04ed45_0_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88d04ed45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8d04ed4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f88d04ed45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f88d04ed4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8d04ed4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f88d04ed45_0_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f88d04ed45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88d04ed45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88d04ed45_0_7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f88d04ed45_0_7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88d04ed45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88d04ed45_0_7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f88d04ed45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88d04ed45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88d04ed45_0_8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88d04ed45_0_8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f88d04ed45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f88d04ed45_0_8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g3f88d04ed45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88d04ed45_0_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88d04ed45_0_10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f88d04ed45_0_1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f849ea8306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f849ea8306_0_2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f849ea8306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88d04ed45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f88d04ed45_0_9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f88d04ed45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850164cc3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850164cc3_0_8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850164cc3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f88d04ed45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f88d04ed45_0_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88d04ed45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6ea76ad9e_0_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6ea76ad9e_0_9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3f6ea76ad9e_0_9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ea76ad9e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6ea76ad9e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f6ea76ad9e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51" name="Google Shape;51;p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5" name="Google Shape;55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74" name="Google Shape;74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78" name="Google Shape;78;p15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9" name="Google Shape;79;p15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0" name="Google Shape;80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83" name="Google Shape;83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deivisontakatu/projeto-pipelines-devop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marketplace?type=action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Revisão Ferramentas e Pipelines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96" name="Google Shape;96;p1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DevOps: O Ciclo Infinito do Desenvolvimento Moderno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Estrutura de pipeline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Exemplos de Pipeline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GitHub Actions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Entregas de Software e Automação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DevOps: O Ciclo Infinito do Desenvolvimento Moderno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415600" y="1536633"/>
            <a:ext cx="45789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DevOps é uma cultura, filosofia e conjunto de práticas que integra as equipes de Desenvolvimento (DEV) e Operações (OPS), eliminando silos organizacionais e acelerando a entrega de software com qualidade e confiabilidade.</a:t>
            </a:r>
            <a:endParaRPr/>
          </a:p>
        </p:txBody>
      </p:sp>
      <p:pic>
        <p:nvPicPr>
          <p:cNvPr id="110" name="Google Shape;110;p21" title="DevOp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52400" y="1356967"/>
            <a:ext cx="7339600" cy="479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PLAN - Planejamento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pt-BR"/>
              <a:t>O planejamento é o ponto de partida do loop infinito. Nesta etapa, as equipes definem o que será desenvolvido, como e quando, utilizando metodologias ágeis para organizar prioridades, distribuir tarefas e alinhar expectativas entre produto, desenvolvimento e operações.</a:t>
            </a:r>
            <a:endParaRPr/>
          </a:p>
          <a:p>
            <a:pPr indent="-457200" lvl="0" marL="6096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Jira Gestão de projetos ágeis com sprints, roadmaps e rastreabilidade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Trello Quadros Kanban visuais para equipes menores e gestão de tarefas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Azure Boards Planejamento integrado ao ecossistema Microsoft Azure DevOps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CODE - Codificação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1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codificação é onde as ideias planejadas ganham forma técnica. Nesta fase, os desenvolvedores escrevem, revisam e versionam o código-fonte de forma colaborativa, garantindo rastreabilidade, segurança e qualidade desde o início.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Boas Práticas de Codificação no DevOps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Escrever código limpo e legível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Utilizar ferramentas de desenvolvimentos (IDEs)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Manter testes 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Documentar o projeto.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BUILD - Compilação e Build Automatizado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Build transforma o código-fonte em um artefato executável — um arquivo JAR, imagem Docker, pacote NPM ou binário — pronto para ser testado e implantado. A automação deste processo elimina erros humanos e garante builds consistentes e reproduzíveis. Etapas: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Compilação: transformação do código-fonte em bytecode ou binário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Resolução de dependências: download automático de bibliotecas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Empacotamento: geração de JAR, WAR, ZIP, imagem Docker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Análise estática: verificação de qualidade de código (SonarQube)</a:t>
            </a:r>
            <a:endParaRPr/>
          </a:p>
          <a:p>
            <a:pPr indent="-425450" lvl="1" marL="12192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/>
              <a:t>Publicação de artefato: versionamento e armazenamento seguro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TEST - Testes Automatizados e Qualidade de Software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Testes automatizados são o guardião da qualidade no ciclo DevOps. Ao integrar testes diretamente no pipeline de CI/CD, problemas são detectados rapidamente - antes de chegarem ao usuário final. O objetivo é garantir que cada build seja confiável, funcional e seguro.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plataforma de delivery executa +3.000 testes automatizados a cada novo deploy. O pipeline válida: cálculo de frete, processamento de pagamentos, notificações push e fluxo completo de pedido - tudo em menos de 8 minutos, sem intervenção humana.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RELEASE - Liberação e Controle de Versões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etapa de Release é o ponto de decisão no pipeline DevOps: o software foi desenvolvido, compilado e testado - agora precisa ser aprovado, versionado e preparado para produção. É o momento em que qualidade e governança garantem que apenas código confiável avança.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No Release, o artefato gerado no Build recebe um número de versão semântica (ex: v2.4.1) seguindo o padrão Major.Minor.Patch. Gates de qualidade (Quality Gates) verificam cobertura de testes, análise de segurança e aprovação manual de stakeholders antes de avançar.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DEPLOY - Implantação Automatizada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lnSpcReduction="20000"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Deploy é o momento em que o software aprovado é implantado nos ambientes de produção de forma automatizada, rápida e confiável. Com a cultura DevOps, implantações que antes levavam dias agora acontecem em minutos — com risco reduzido e reversão automática em caso de falha.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b="1" lang="pt-BR"/>
              <a:t>Exemplo</a:t>
            </a:r>
            <a:r>
              <a:rPr lang="pt-BR"/>
              <a:t>: Uma empresa de streaming possui 47 microsserviços independentes. Com Kubernetes no AWS EKS, cada serviço é implantado automaticamente via pipeline GitLab: a imagem Docker é construída, publicada no ECR (registry AWS) e o Kubernetes atualiza os pods em rolling update — sem downtime e com rollback automático se o health check falhar.;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OPERATE - Operação e Gestão de Infraestrutura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2500" lnSpcReduction="20000"/>
          </a:bodyPr>
          <a:lstStyle/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pt-BR"/>
              <a:t>Garante que a aplicação em produção permaneça estável, disponível e escalável. Com práticas de automação operacional, as equipes de Ops deixam de apagar incêndios manualmente e passam a gerenciar infraestrutura como código, respondendo proativamente a mudanças de demanda.</a:t>
            </a:r>
            <a:endParaRPr/>
          </a:p>
          <a:p>
            <a:pPr indent="-445770" lvl="0" marL="609600" rtl="0" algn="just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pt-BR"/>
              <a:t>Exemplo</a:t>
            </a:r>
            <a:r>
              <a:rPr lang="pt-BR"/>
              <a:t>: Uma plataforma de streaming como o modelo Netflix opera com milhares de servidores globais. Durante horários de pico (novelas, jogos ao vivo), o Kubernetes aumenta automaticamente o número de réplicas dos serviços de transcodificação e entrega de conteúdo. O balanceamento de carga distribui requisições entre instâncias saudáveis, enquanto o Ansible garante configurações uniformes em todos os nós.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rPr lang="pt-BR"/>
              <a:t>MONITOR - Observabilidade e Monitoramento Contínuo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54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Monitoramento fecha o loop infinito do DevOps. É a etapa onde a equipe obtém visibilidade total do sistema em produção - coletando métricas, logs e traces para detectar anomalias, entender comportamentos e alimentar o próximo ciclo de planejamento com dados reais.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/>
          <p:nvPr/>
        </p:nvSpPr>
        <p:spPr>
          <a:xfrm>
            <a:off x="4846367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0" name="Google Shape;160;p29"/>
          <p:cNvSpPr/>
          <p:nvPr/>
        </p:nvSpPr>
        <p:spPr>
          <a:xfrm>
            <a:off x="505770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📊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Métricas</a:t>
            </a:r>
            <a:endParaRPr i="0" sz="1900" u="none" cap="none" strike="noStrike"/>
          </a:p>
        </p:txBody>
      </p:sp>
      <p:sp>
        <p:nvSpPr>
          <p:cNvPr id="161" name="Google Shape;161;p29"/>
          <p:cNvSpPr/>
          <p:nvPr/>
        </p:nvSpPr>
        <p:spPr>
          <a:xfrm>
            <a:off x="5037867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Dados numéricos sobre o estado do sistema: CPU, memória, latência, taxa de erro, requisições/segundo</a:t>
            </a:r>
            <a:endParaRPr i="0" sz="1400" u="none" cap="none" strike="noStrike"/>
          </a:p>
        </p:txBody>
      </p:sp>
      <p:sp>
        <p:nvSpPr>
          <p:cNvPr id="162" name="Google Shape;162;p29"/>
          <p:cNvSpPr/>
          <p:nvPr/>
        </p:nvSpPr>
        <p:spPr>
          <a:xfrm>
            <a:off x="8373606" y="3715233"/>
            <a:ext cx="3402900" cy="1525200"/>
          </a:xfrm>
          <a:prstGeom prst="roundRect">
            <a:avLst>
              <a:gd fmla="val 4994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3" name="Google Shape;163;p29"/>
          <p:cNvSpPr/>
          <p:nvPr/>
        </p:nvSpPr>
        <p:spPr>
          <a:xfrm>
            <a:off x="8950312" y="3926570"/>
            <a:ext cx="25020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Raleway"/>
              <a:buNone/>
            </a:pPr>
            <a:r>
              <a:rPr i="0" lang="pt-BR" sz="1900" u="none" cap="none" strike="noStrike">
                <a:solidFill>
                  <a:srgbClr val="000000"/>
                </a:solidFill>
              </a:rPr>
              <a:t>📝</a:t>
            </a:r>
            <a:r>
              <a:rPr i="0" lang="pt-BR" sz="1900" u="none" cap="none" strike="noStrike">
                <a:solidFill>
                  <a:srgbClr val="3C3939"/>
                </a:solidFill>
              </a:rPr>
              <a:t> Logs</a:t>
            </a:r>
            <a:endParaRPr i="0" sz="1900" u="none" cap="none" strike="noStrike"/>
          </a:p>
        </p:txBody>
      </p:sp>
      <p:sp>
        <p:nvSpPr>
          <p:cNvPr id="164" name="Google Shape;164;p29"/>
          <p:cNvSpPr/>
          <p:nvPr/>
        </p:nvSpPr>
        <p:spPr>
          <a:xfrm>
            <a:off x="8565106" y="4314743"/>
            <a:ext cx="30195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Registros textuais de eventos do sistema: erros, transações, autenticações e ações de usuários</a:t>
            </a:r>
            <a:endParaRPr i="0" sz="1400" u="none" cap="none" strike="noStrike"/>
          </a:p>
        </p:txBody>
      </p:sp>
      <p:sp>
        <p:nvSpPr>
          <p:cNvPr id="165" name="Google Shape;165;p29"/>
          <p:cNvSpPr/>
          <p:nvPr/>
        </p:nvSpPr>
        <p:spPr>
          <a:xfrm>
            <a:off x="4846367" y="5365312"/>
            <a:ext cx="6929700" cy="1280400"/>
          </a:xfrm>
          <a:prstGeom prst="roundRect">
            <a:avLst>
              <a:gd fmla="val 5948" name="adj"/>
            </a:avLst>
          </a:prstGeom>
          <a:solidFill>
            <a:srgbClr val="E1E1EA"/>
          </a:solidFill>
          <a:ln cap="flat" cmpd="sng" w="202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94425" lIns="194425" spcFirstLastPara="1" rIns="194425" wrap="square" tIns="194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166" name="Google Shape;166;p29"/>
          <p:cNvSpPr/>
          <p:nvPr/>
        </p:nvSpPr>
        <p:spPr>
          <a:xfrm>
            <a:off x="5037867" y="5556813"/>
            <a:ext cx="22671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Raleway"/>
              <a:buNone/>
            </a:pPr>
            <a:r>
              <a:rPr i="0" lang="pt-BR" sz="1700" u="none" cap="none" strike="noStrike">
                <a:solidFill>
                  <a:srgbClr val="000000"/>
                </a:solidFill>
              </a:rPr>
              <a:t>🔍</a:t>
            </a:r>
            <a:r>
              <a:rPr i="0" lang="pt-BR" sz="1700" u="none" cap="none" strike="noStrike">
                <a:solidFill>
                  <a:srgbClr val="3C3939"/>
                </a:solidFill>
              </a:rPr>
              <a:t> Traces</a:t>
            </a:r>
            <a:endParaRPr i="0" sz="1700" u="none" cap="none" strike="noStrike"/>
          </a:p>
        </p:txBody>
      </p:sp>
      <p:sp>
        <p:nvSpPr>
          <p:cNvPr id="167" name="Google Shape;167;p29"/>
          <p:cNvSpPr/>
          <p:nvPr/>
        </p:nvSpPr>
        <p:spPr>
          <a:xfrm>
            <a:off x="5037867" y="5964821"/>
            <a:ext cx="65472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8461"/>
              </a:lnSpc>
              <a:spcBef>
                <a:spcPts val="0"/>
              </a:spcBef>
              <a:spcAft>
                <a:spcPts val="0"/>
              </a:spcAft>
              <a:buClr>
                <a:srgbClr val="3C3939"/>
              </a:buClr>
              <a:buSzPts val="1400"/>
              <a:buFont typeface="Roboto"/>
              <a:buNone/>
            </a:pPr>
            <a:r>
              <a:rPr i="0" lang="pt-BR" sz="1400" u="none" cap="none" strike="noStrike">
                <a:solidFill>
                  <a:srgbClr val="3C3939"/>
                </a:solidFill>
              </a:rPr>
              <a:t>Rastreamento do caminho de uma requisição através de todos os serviços envolvidos no processamento</a:t>
            </a:r>
            <a:endParaRPr i="0" sz="1400" u="none" cap="none" strike="noStrik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Pipeline: Sequência de validações automatizadas executadas durante o ciclo de entrega do software.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Build uma única vez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O mesmo artefato é promovido entre ambientes</a:t>
            </a:r>
            <a:endParaRPr sz="20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Mesmo deploy em todos os ambientes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Desenvolvimento → Homologação → Produção</a:t>
            </a:r>
            <a:endParaRPr sz="20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Falhou? Para tudo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Nenhuma etapa continua após erro</a:t>
            </a:r>
            <a:endParaRPr sz="2800"/>
          </a:p>
        </p:txBody>
      </p:sp>
      <p:sp>
        <p:nvSpPr>
          <p:cNvPr id="174" name="Google Shape;174;p3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de pipeline</a:t>
            </a:r>
            <a:endParaRPr/>
          </a:p>
        </p:txBody>
      </p:sp>
      <p:sp>
        <p:nvSpPr>
          <p:cNvPr id="175" name="Google Shape;175;p30"/>
          <p:cNvSpPr/>
          <p:nvPr/>
        </p:nvSpPr>
        <p:spPr>
          <a:xfrm>
            <a:off x="7444550" y="3429000"/>
            <a:ext cx="4179900" cy="2651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Um desenvolvedor altera a tela de login de um sistema e envia o código para o GitHub. A partir disso, o pipeline inicia automaticamente: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O sistema baixa o código atualizado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Compila a aplicação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Executa testes automáticos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Verifica a qualidade do código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Gera uma nova versão da aplicação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Pública em ambiente de homologação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O pipeline de build é a etapa responsável por preparar automaticamente o software para execução ou distribuição.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O objetivo é garantir que o sistema consiga ser construído corretamente antes das próximas etapas do pipeline.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pt-BR" sz="2500"/>
              <a:t>Principais funções</a:t>
            </a:r>
            <a:endParaRPr sz="25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Compilação automatizada do projeto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Geração de artefatos de software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arquivos .jar, .war, .apk, containers Docker etc.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Verificação inicial da integridade do código</a:t>
            </a:r>
            <a:endParaRPr sz="2500"/>
          </a:p>
        </p:txBody>
      </p:sp>
      <p:sp>
        <p:nvSpPr>
          <p:cNvPr id="182" name="Google Shape;182;p3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build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O pipeline de testes executa automaticamente validações no sistema após o processo de build.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O objetivo é garantir que novas alterações não quebrem funcionalidades existentes do sistema.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Principais funções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Execução automática de testes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Validação contínua da aplicação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Identificação rápida de falhas</a:t>
            </a:r>
            <a:endParaRPr sz="2000"/>
          </a:p>
        </p:txBody>
      </p:sp>
      <p:sp>
        <p:nvSpPr>
          <p:cNvPr id="189" name="Google Shape;189;p3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testes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pipeline de qualidade realiza verificações automatizadas para avaliar se o código atende aos padrões definidos antes de avançar para as próximas etapas.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objetivo é identificar problemas de qualidade, inconsistências e possíveis falhas no código de forma antecipada.</a:t>
            </a:r>
            <a:endParaRPr/>
          </a:p>
        </p:txBody>
      </p:sp>
      <p:sp>
        <p:nvSpPr>
          <p:cNvPr id="196" name="Google Shape;196;p3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qualidade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O pipeline de segurança realiza verificações automatizadas para identificar vulnerabilidades e riscos no software durante o processo de desenvolvimento.</a:t>
            </a:r>
            <a:endParaRPr sz="2700"/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pt-BR" sz="2700"/>
              <a:t>Principais funções</a:t>
            </a:r>
            <a:endParaRPr sz="27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Análise de vulnerabilidades no código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Verificação de dependências utilizadas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Identificação de configurações inseguras</a:t>
            </a:r>
            <a:endParaRPr sz="1900"/>
          </a:p>
          <a:p>
            <a:pPr indent="-349250" lvl="1" marL="914400" rtl="0" algn="just"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pt-BR" sz="1900"/>
              <a:t>Detecção de informações sensíveis expostas</a:t>
            </a:r>
            <a:endParaRPr sz="1900"/>
          </a:p>
        </p:txBody>
      </p:sp>
      <p:sp>
        <p:nvSpPr>
          <p:cNvPr id="203" name="Google Shape;203;p3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segurança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pipeline de artefatos é responsável por empacotar e armazenar os resultados gerados durante o processo de build.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Principais funções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Empacotamento da aplicação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Geração de arquivos de distribuição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Versionamento dos artefatos</a:t>
            </a:r>
            <a:endParaRPr/>
          </a:p>
          <a:p>
            <a:pPr indent="-381000" lvl="1" marL="914400" rtl="0" algn="just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pt-BR"/>
              <a:t>Armazenamento em repositórios de artefatos</a:t>
            </a:r>
            <a:endParaRPr/>
          </a:p>
        </p:txBody>
      </p:sp>
      <p:sp>
        <p:nvSpPr>
          <p:cNvPr id="210" name="Google Shape;210;p3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Artefatos (Package)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O pipeline de deploy é responsável por publicar automaticamente o software em um ambiente de execução após as etapas de validação.</a:t>
            </a:r>
            <a:endParaRPr sz="3000"/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pt-BR" sz="3000"/>
              <a:t>Principais funções</a:t>
            </a:r>
            <a:endParaRPr sz="30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Preparação do ambiente de destino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Publicação do artefato gerado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Configuração de variáveis e parâmetros</a:t>
            </a:r>
            <a:endParaRPr sz="22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Char char="○"/>
            </a:pPr>
            <a:r>
              <a:rPr lang="pt-BR" sz="2200"/>
              <a:t>Execução do deploy automatizado</a:t>
            </a:r>
            <a:endParaRPr sz="2200"/>
          </a:p>
        </p:txBody>
      </p:sp>
      <p:sp>
        <p:nvSpPr>
          <p:cNvPr id="217" name="Google Shape;217;p3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Deploy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O pipeline de release é responsável por preparar e disponibilizar uma versão específica do software para os usuários ou para um ambiente de produção.</a:t>
            </a:r>
            <a:endParaRPr sz="2900"/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pt-BR" sz="2900"/>
              <a:t>Principais funções</a:t>
            </a:r>
            <a:endParaRPr sz="29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Criação e identificação de versões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Publicação de releases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Controle das versões disponibilizadas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pt-BR" sz="2100"/>
              <a:t>Monitoramento da aplicação em produção</a:t>
            </a:r>
            <a:endParaRPr sz="2100"/>
          </a:p>
        </p:txBody>
      </p:sp>
      <p:sp>
        <p:nvSpPr>
          <p:cNvPr id="224" name="Google Shape;224;p3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</a:t>
            </a:r>
            <a:r>
              <a:rPr lang="pt-BR"/>
              <a:t>Release e Monitoramento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Projeto prático utilizando GitHub Actions para automatizar uma pipeline de CI/CD.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Cada etapa é executada automaticamente e uma falha interrompe o fluxo. 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Link: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github.com/deivisontakatu/projeto-pipelines-devops</a:t>
            </a:r>
            <a:endParaRPr/>
          </a:p>
          <a:p>
            <a:pPr indent="0" lvl="0" marL="45720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Exemplo de Projeto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/>
              <a:t>É uma plataforma de automação integrada ao GitHub, permitindo criar e executar fluxos de trabalho diretamente associados aos repositórios de código.</a:t>
            </a:r>
            <a:endParaRPr sz="31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3100"/>
              <a:t>Os workflows podem ser configurados de acordo com eventos do repositório, como push, pull request, criação de tags ou releases.</a:t>
            </a:r>
            <a:endParaRPr sz="3100"/>
          </a:p>
        </p:txBody>
      </p:sp>
      <p:sp>
        <p:nvSpPr>
          <p:cNvPr id="238" name="Google Shape;238;p3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É o catálogo de Actions, ferramentas e extensões que podem ser utilizadas nos workflows do GitHub Actions.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Permite encontrar soluções prontas para build, testes, qualidade, segurança, deploy, cache e outras etapas da pipeline.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As Actions podem ser desenvolvidas pelo GitHub, parceiros ou pela comunidade.</a:t>
            </a:r>
            <a:endParaRPr sz="2800"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sz="2800"/>
              <a:t>GitHub Marketplace: </a:t>
            </a:r>
            <a:r>
              <a:rPr lang="pt-BR" sz="2700" u="sng">
                <a:solidFill>
                  <a:schemeClr val="hlink"/>
                </a:solidFill>
                <a:hlinkClick r:id="rId3"/>
              </a:rPr>
              <a:t>github.com/marketplace?type=actions</a:t>
            </a:r>
            <a:endParaRPr sz="2700"/>
          </a:p>
        </p:txBody>
      </p:sp>
      <p:sp>
        <p:nvSpPr>
          <p:cNvPr id="245" name="Google Shape;245;p4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 Marktplace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252" name="Google Shape;252;p41"/>
          <p:cNvGrpSpPr/>
          <p:nvPr/>
        </p:nvGrpSpPr>
        <p:grpSpPr>
          <a:xfrm>
            <a:off x="830164" y="1836992"/>
            <a:ext cx="5146498" cy="1795413"/>
            <a:chOff x="4667250" y="952500"/>
            <a:chExt cx="4095900" cy="1428900"/>
          </a:xfrm>
        </p:grpSpPr>
        <p:sp>
          <p:nvSpPr>
            <p:cNvPr id="253" name="Google Shape;253;p41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41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DevOps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Integra desenvolvimento, testes e operações por meio da automação, acelerando entregas de software com maior qualidade, estabilidade e redução de falhas.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41"/>
          <p:cNvGrpSpPr/>
          <p:nvPr/>
        </p:nvGrpSpPr>
        <p:grpSpPr>
          <a:xfrm>
            <a:off x="829918" y="4001987"/>
            <a:ext cx="10532171" cy="2154269"/>
            <a:chOff x="381000" y="2571750"/>
            <a:chExt cx="8382150" cy="1714500"/>
          </a:xfrm>
        </p:grpSpPr>
        <p:sp>
          <p:nvSpPr>
            <p:cNvPr id="256" name="Google Shape;256;p41"/>
            <p:cNvSpPr/>
            <p:nvPr/>
          </p:nvSpPr>
          <p:spPr>
            <a:xfrm>
              <a:off x="381000" y="2571750"/>
              <a:ext cx="8382000" cy="1714500"/>
            </a:xfrm>
            <a:prstGeom prst="roundRect">
              <a:avLst>
                <a:gd fmla="val 5555" name="adj"/>
              </a:avLst>
            </a:prstGeom>
            <a:solidFill>
              <a:srgbClr val="20252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41"/>
            <p:cNvSpPr txBox="1"/>
            <p:nvPr/>
          </p:nvSpPr>
          <p:spPr>
            <a:xfrm>
              <a:off x="762000" y="2762245"/>
              <a:ext cx="40959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262">
                  <a:solidFill>
                    <a:srgbClr val="F3F3F3"/>
                  </a:solidFill>
                </a:rPr>
                <a:t>O Papel das Pipelines</a:t>
              </a:r>
              <a:endParaRPr b="1" sz="2262">
                <a:solidFill>
                  <a:srgbClr val="F3F3F3"/>
                </a:solidFill>
              </a:endParaRPr>
            </a:p>
            <a:p>
              <a:pPr indent="574465" lvl="0" marL="0" rtl="0" algn="just">
                <a:spcBef>
                  <a:spcPts val="942"/>
                </a:spcBef>
                <a:spcAft>
                  <a:spcPts val="0"/>
                </a:spcAft>
                <a:buNone/>
              </a:pPr>
              <a:r>
                <a:rPr lang="pt-BR" sz="1508">
                  <a:solidFill>
                    <a:srgbClr val="F3F3F3"/>
                  </a:solidFill>
                </a:rPr>
                <a:t>As pipelines de CI tornaram-se fundamentais no desenvolvimento moderno, automatizando validações e garantindo qualidade contínua durante todo o ciclo de entrega.</a:t>
              </a:r>
              <a:endParaRPr sz="1508">
                <a:solidFill>
                  <a:srgbClr val="F3F3F3"/>
                </a:solidFill>
              </a:endParaRPr>
            </a:p>
          </p:txBody>
        </p:sp>
        <p:pic>
          <p:nvPicPr>
            <p:cNvPr descr="A high-tech digital visualization of a software delivery pipeline with glowing nodes and connecting lines, professional corporate style, dark theme." id="258" name="Google Shape;258;p41"/>
            <p:cNvPicPr preferRelativeResize="0"/>
            <p:nvPr/>
          </p:nvPicPr>
          <p:blipFill rotWithShape="1">
            <a:blip r:embed="rId3">
              <a:alphaModFix/>
            </a:blip>
            <a:srcRect b="4288" l="0" r="0" t="4288"/>
            <a:stretch/>
          </p:blipFill>
          <p:spPr>
            <a:xfrm>
              <a:off x="5429250" y="2571750"/>
              <a:ext cx="3333900" cy="1714500"/>
            </a:xfrm>
            <a:prstGeom prst="roundRect">
              <a:avLst>
                <a:gd fmla="val 5555" name="adj"/>
              </a:avLst>
            </a:prstGeom>
            <a:noFill/>
            <a:ln>
              <a:noFill/>
            </a:ln>
          </p:spPr>
        </p:pic>
      </p:grpSp>
      <p:sp>
        <p:nvSpPr>
          <p:cNvPr id="259" name="Google Shape;259;p41"/>
          <p:cNvSpPr txBox="1"/>
          <p:nvPr/>
        </p:nvSpPr>
        <p:spPr>
          <a:xfrm>
            <a:off x="830007" y="6156181"/>
            <a:ext cx="10531800" cy="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“Pipelines promovem qualidade contínua ao longo de todo o processo de entrega” SATO (2014).</a:t>
            </a:r>
            <a:endParaRPr i="1" sz="1559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p41"/>
          <p:cNvGrpSpPr/>
          <p:nvPr/>
        </p:nvGrpSpPr>
        <p:grpSpPr>
          <a:xfrm>
            <a:off x="6215591" y="1837008"/>
            <a:ext cx="5146498" cy="1795413"/>
            <a:chOff x="4667250" y="952500"/>
            <a:chExt cx="4095900" cy="1428900"/>
          </a:xfrm>
        </p:grpSpPr>
        <p:sp>
          <p:nvSpPr>
            <p:cNvPr id="261" name="Google Shape;261;p41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fmla="val 6666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1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41"/>
            <p:cNvSpPr txBox="1"/>
            <p:nvPr/>
          </p:nvSpPr>
          <p:spPr>
            <a:xfrm>
              <a:off x="4857750" y="1095375"/>
              <a:ext cx="371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62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Definição de Pipeline</a:t>
              </a:r>
              <a:endParaRPr b="1" sz="2062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574465" lvl="0" marL="0" rtl="0" algn="just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Sequência automatizada de estágios responsável por conduzir o software desde o commit até o deploy de forma confiável.</a:t>
              </a:r>
              <a:endParaRPr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754"/>
                </a:spcBef>
                <a:spcAft>
                  <a:spcPts val="0"/>
                </a:spcAft>
                <a:buNone/>
              </a:pPr>
              <a:r>
                <a:rPr i="1" lang="pt-BR" sz="1559">
                  <a:solidFill>
                    <a:srgbClr val="434343"/>
                  </a:solidFill>
                  <a:latin typeface="Calibri"/>
                  <a:ea typeface="Calibri"/>
                  <a:cs typeface="Calibri"/>
                  <a:sym typeface="Calibri"/>
                </a:rPr>
                <a:t>Humble e Priklandnicki (2013).</a:t>
              </a:r>
              <a:endParaRPr i="1" sz="1559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Entregas de Software e Automação</a:t>
            </a:r>
            <a:endParaRPr/>
          </a:p>
        </p:txBody>
      </p:sp>
      <p:grpSp>
        <p:nvGrpSpPr>
          <p:cNvPr id="269" name="Google Shape;269;p42"/>
          <p:cNvGrpSpPr/>
          <p:nvPr/>
        </p:nvGrpSpPr>
        <p:grpSpPr>
          <a:xfrm>
            <a:off x="380899" y="2271772"/>
            <a:ext cx="5508986" cy="2837383"/>
            <a:chOff x="381000" y="2095500"/>
            <a:chExt cx="4095900" cy="2286000"/>
          </a:xfrm>
        </p:grpSpPr>
        <p:sp>
          <p:nvSpPr>
            <p:cNvPr id="270" name="Google Shape;270;p42"/>
            <p:cNvSpPr/>
            <p:nvPr/>
          </p:nvSpPr>
          <p:spPr>
            <a:xfrm>
              <a:off x="381000" y="209550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2825">
              <a:solidFill>
                <a:srgbClr val="E1E4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83">
                <a:solidFill>
                  <a:srgbClr val="434343"/>
                </a:solidFill>
              </a:endParaRPr>
            </a:p>
          </p:txBody>
        </p:sp>
        <p:sp>
          <p:nvSpPr>
            <p:cNvPr id="271" name="Google Shape;271;p42"/>
            <p:cNvSpPr txBox="1"/>
            <p:nvPr/>
          </p:nvSpPr>
          <p:spPr>
            <a:xfrm>
              <a:off x="571500" y="2286000"/>
              <a:ext cx="3714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21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Gatilhos (Workflows)</a:t>
              </a:r>
              <a:endParaRPr b="1" sz="2421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2"/>
            <p:cNvSpPr txBox="1"/>
            <p:nvPr/>
          </p:nvSpPr>
          <p:spPr>
            <a:xfrm>
              <a:off x="571500" y="2714625"/>
              <a:ext cx="37149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Iniciam automaticamente em ações como: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807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Push de código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Pull Requests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Criação de Releases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427050" lvl="0" marL="614952" rtl="0" algn="l">
                <a:spcBef>
                  <a:spcPts val="605"/>
                </a:spcBef>
                <a:spcAft>
                  <a:spcPts val="0"/>
                </a:spcAft>
                <a:buClr>
                  <a:srgbClr val="434343"/>
                </a:buClr>
                <a:buSzPts val="1883"/>
                <a:buFont typeface="Arial"/>
                <a:buChar char="●"/>
              </a:pPr>
              <a:r>
                <a:rPr lang="pt-BR" sz="1883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Publicação de Tags</a:t>
              </a:r>
              <a:endParaRPr sz="1883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3" name="Google Shape;273;p42"/>
          <p:cNvGrpSpPr/>
          <p:nvPr/>
        </p:nvGrpSpPr>
        <p:grpSpPr>
          <a:xfrm>
            <a:off x="6145906" y="2271772"/>
            <a:ext cx="5508986" cy="2837383"/>
            <a:chOff x="4667250" y="2095500"/>
            <a:chExt cx="4095900" cy="2286000"/>
          </a:xfrm>
        </p:grpSpPr>
        <p:sp>
          <p:nvSpPr>
            <p:cNvPr id="274" name="Google Shape;274;p42"/>
            <p:cNvSpPr/>
            <p:nvPr/>
          </p:nvSpPr>
          <p:spPr>
            <a:xfrm>
              <a:off x="4667250" y="209550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0D1117"/>
            </a:solidFill>
            <a:ln cap="flat" cmpd="sng" w="128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42"/>
            <p:cNvSpPr txBox="1"/>
            <p:nvPr/>
          </p:nvSpPr>
          <p:spPr>
            <a:xfrm>
              <a:off x="4857750" y="2286000"/>
              <a:ext cx="37149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7D859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# É uma ferramenta nativa do GitHub que permite automatizar processos de integração contínua, testes e deploy de aplicações.</a:t>
              </a:r>
              <a:endParaRPr sz="1749">
                <a:solidFill>
                  <a:srgbClr val="7D859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4"/>
                </a:spcBef>
                <a:spcAft>
                  <a:spcPts val="0"/>
                </a:spcAft>
                <a:buNone/>
              </a:pPr>
              <a:r>
                <a:t/>
              </a:r>
              <a:endParaRPr sz="1480">
                <a:solidFill>
                  <a:srgbClr val="7D859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404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on:</a:t>
              </a:r>
              <a:r>
                <a:rPr lang="pt-BR" sz="1749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[push]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jobs: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25623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build:</a:t>
              </a:r>
              <a:endParaRPr sz="1749">
                <a:solidFill>
                  <a:srgbClr val="E6EDF3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512459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49">
                  <a:solidFill>
                    <a:srgbClr val="FF7B7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runs-on:</a:t>
              </a:r>
              <a:r>
                <a:rPr lang="pt-BR" sz="1749">
                  <a:solidFill>
                    <a:srgbClr val="E6EDF3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</a:t>
              </a:r>
              <a:r>
                <a:rPr lang="pt-BR" sz="1749">
                  <a:solidFill>
                    <a:srgbClr val="A5D6FF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ubuntu-latest</a:t>
              </a:r>
              <a:endParaRPr sz="1749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76" name="Google Shape;276;p42"/>
          <p:cNvGrpSpPr/>
          <p:nvPr/>
        </p:nvGrpSpPr>
        <p:grpSpPr>
          <a:xfrm>
            <a:off x="381000" y="5301427"/>
            <a:ext cx="11273790" cy="512445"/>
            <a:chOff x="381000" y="4524375"/>
            <a:chExt cx="8382000" cy="381000"/>
          </a:xfrm>
        </p:grpSpPr>
        <p:sp>
          <p:nvSpPr>
            <p:cNvPr id="277" name="Google Shape;277;p42"/>
            <p:cNvSpPr/>
            <p:nvPr/>
          </p:nvSpPr>
          <p:spPr>
            <a:xfrm>
              <a:off x="381000" y="4524375"/>
              <a:ext cx="8382000" cy="381000"/>
            </a:xfrm>
            <a:prstGeom prst="roundRect">
              <a:avLst>
                <a:gd fmla="val 20000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83">
                <a:solidFill>
                  <a:srgbClr val="434343"/>
                </a:solidFill>
              </a:endParaRPr>
            </a:p>
          </p:txBody>
        </p:sp>
        <p:sp>
          <p:nvSpPr>
            <p:cNvPr id="278" name="Google Shape;278;p42"/>
            <p:cNvSpPr txBox="1"/>
            <p:nvPr/>
          </p:nvSpPr>
          <p:spPr>
            <a:xfrm>
              <a:off x="381000" y="4524375"/>
              <a:ext cx="8382000" cy="381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749">
                  <a:solidFill>
                    <a:srgbClr val="434343"/>
                  </a:solidFill>
                  <a:latin typeface="Arial"/>
                  <a:ea typeface="Arial"/>
                  <a:cs typeface="Arial"/>
                  <a:sym typeface="Arial"/>
                </a:rPr>
                <a:t>Exemplo: </a:t>
              </a:r>
              <a:r>
                <a:rPr lang="pt-BR" sz="1749">
                  <a:solidFill>
                    <a:srgbClr val="434343"/>
                  </a:solidFill>
                </a:rPr>
                <a:t>Execução da pipeline DevOps com GitHub Actions.</a:t>
              </a:r>
              <a:endParaRPr sz="1749">
                <a:solidFill>
                  <a:srgbClr val="434343"/>
                </a:solidFill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Integrem uma pipeline ao projeto utilizando o GitHub Actions, configurando a automação para que seja executada sempre que for realizado um novo push na branch principal (main).</a:t>
            </a:r>
            <a:endParaRPr sz="28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2800"/>
              <a:t>Em seguida, busquem repositórios no Github que contenham a integração de Pipeline e realizem uma </a:t>
            </a:r>
            <a:r>
              <a:rPr lang="pt-BR" sz="2800"/>
              <a:t>análise</a:t>
            </a:r>
            <a:r>
              <a:rPr lang="pt-BR" sz="2800"/>
              <a:t> de pelo menos três projetos, destacando </a:t>
            </a:r>
            <a:r>
              <a:rPr lang="pt-BR" sz="2800"/>
              <a:t>características</a:t>
            </a:r>
            <a:r>
              <a:rPr lang="pt-BR" sz="2800"/>
              <a:t>, </a:t>
            </a:r>
            <a:r>
              <a:rPr lang="pt-BR" sz="2800"/>
              <a:t>funcionalidades, gatilhos e histórico.</a:t>
            </a:r>
            <a:endParaRPr sz="2800"/>
          </a:p>
        </p:txBody>
      </p:sp>
      <p:sp>
        <p:nvSpPr>
          <p:cNvPr id="285" name="Google Shape;285;p4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Revisão Ferramentas e Pipelines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306" name="Google Shape;306;p46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